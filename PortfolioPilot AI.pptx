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A0"/>
              </a:solidFill>
              <a:effectLst/>
            </c:spPr>
          </c:dPt>
          <c:dPt>
            <c:idx val="1"/>
            <c:bubble3D val="0"/>
            <c:spPr>
              <a:solidFill>
                <a:srgbClr val="4E9EFF"/>
              </a:solidFill>
              <a:effectLst/>
            </c:spPr>
          </c:dPt>
          <c:dPt>
            <c:idx val="2"/>
            <c:bubble3D val="0"/>
            <c:spPr>
              <a:solidFill>
                <a:srgbClr val="F0B429"/>
              </a:solidFill>
              <a:effectLst/>
            </c:spPr>
          </c:dPt>
          <c:dPt>
            <c:idx val="3"/>
            <c:bubble3D val="0"/>
            <c:spPr>
              <a:solidFill>
                <a:srgbClr val="B47EF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9BA3C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9BA3C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9BA3C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9BA3C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Diversification</c:v>
                </c:pt>
                <c:pt idx="1">
                  <c:v>Risk Balance</c:v>
                </c:pt>
                <c:pt idx="2">
                  <c:v>Sector Coverage</c:v>
                </c:pt>
                <c:pt idx="3">
                  <c:v>Concentration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25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BA3C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709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AF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8EAF6"/>
                </a:solidFill>
                <a:latin typeface="Arial"/>
              </a:rPr>
              <a:t>Sector Allocation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Sector Exposure (%)</c:v>
                </c:pt>
              </c:strCache>
            </c:strRef>
          </c:tx>
          <c:spPr>
            <a:solidFill>
              <a:srgbClr val="00D4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EA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E9E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B42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47E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5B5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Technology</c:v>
                  </c:pt>
                  <c:pt idx="1">
                    <c:v>Financials</c:v>
                  </c:pt>
                  <c:pt idx="2">
                    <c:v>Healthcare</c:v>
                  </c:pt>
                  <c:pt idx="3">
                    <c:v>Consumer Disc.</c:v>
                  </c:pt>
                  <c:pt idx="4">
                    <c:v>Energy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18</c:v>
                </c:pt>
                <c:pt idx="2">
                  <c:v>14</c:v>
                </c:pt>
                <c:pt idx="3">
                  <c:v>16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8EA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A3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52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A3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C21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4572000" cy="4572000"/>
          </a:xfrm>
          <a:prstGeom prst="ellipse">
            <a:avLst/>
          </a:prstGeom>
          <a:solidFill>
            <a:srgbClr val="00D4A0">
              <a:alpha val="8000"/>
            </a:srgbClr>
          </a:solidFill>
          <a:ln w="12700">
            <a:solidFill>
              <a:srgbClr val="00D4A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347472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00D4A0">
              <a:alpha val="12000"/>
            </a:srgbClr>
          </a:solidFill>
          <a:ln w="12700">
            <a:solidFill>
              <a:srgbClr val="00D4A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3474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D4A0"/>
                </a:solidFill>
              </a:rPr>
              <a:t>RULE-BASED AI PORTFOLIO ASSISTANT · V2.0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Portfolio.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Intelligently Scored.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holdings and risk appetite — get a personalized AI score, Buy/Hold/Sell signals,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recommendations, and a full rebalancing plan.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3383280"/>
            <a:ext cx="4572000" cy="0"/>
          </a:xfrm>
          <a:prstGeom prst="line">
            <a:avLst/>
          </a:prstGeom>
          <a:noFill/>
          <a:ln w="12700">
            <a:solidFill>
              <a:srgbClr val="252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Suggestions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6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9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256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PortfolioPilot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Investing is complex. Most portfolios fly blind.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840480" cy="128016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45720" cy="1280160"/>
          </a:xfrm>
          <a:prstGeom prst="rect">
            <a:avLst/>
          </a:prstGeom>
          <a:solidFill>
            <a:srgbClr val="FF5B5B"/>
          </a:solidFill>
          <a:ln w="12700">
            <a:solidFill>
              <a:srgbClr val="FF5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18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clear scoring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194767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have no objective way to grade their own portfolio health or diversification.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3840480" cy="128016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508760"/>
            <a:ext cx="45720" cy="1280160"/>
          </a:xfrm>
          <a:prstGeom prst="rect">
            <a:avLst/>
          </a:prstGeom>
          <a:solidFill>
            <a:srgbClr val="FF5B5B"/>
          </a:solidFill>
          <a:ln w="12700">
            <a:solidFill>
              <a:srgbClr val="FF5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618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misalignment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94767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 drift away from an investor's actual risk tolerance without any warning.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3840480" cy="128016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971800"/>
            <a:ext cx="45720" cy="1280160"/>
          </a:xfrm>
          <a:prstGeom prst="rect">
            <a:avLst/>
          </a:prstGeom>
          <a:solidFill>
            <a:srgbClr val="FF5B5B"/>
          </a:solidFill>
          <a:ln w="12700">
            <a:solidFill>
              <a:srgbClr val="FF5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advice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" y="341071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recommendations ignore individual risk appetite and portfolio makeup.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3840480" cy="128016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45720" cy="1280160"/>
          </a:xfrm>
          <a:prstGeom prst="rect">
            <a:avLst/>
          </a:prstGeom>
          <a:solidFill>
            <a:srgbClr val="FF5B5B"/>
          </a:solidFill>
          <a:ln w="12700">
            <a:solidFill>
              <a:srgbClr val="FF5B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41071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portfolio reviews are expensive and take days — not seconds.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tool.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Eight signals.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personalized.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PortfolioPilot AI is a rule-based portfolio analyzer that takes your holdings and risk appetite and instantly returns a composite health score, Buy/Sell signals, sector breakdowns, smart alerts, and personalized stock picks.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92040" y="457200"/>
            <a:ext cx="1737360" cy="182880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83480" y="868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0–100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98348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Score Range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457200"/>
            <a:ext cx="1737360" cy="182880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0" y="868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9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94944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Risk Profiles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2606040"/>
            <a:ext cx="1737360" cy="182880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8348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Signals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2606040"/>
            <a:ext cx="1737360" cy="182880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Full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434840"/>
            <a:ext cx="8138160" cy="411480"/>
          </a:xfrm>
          <a:prstGeom prst="roundRect">
            <a:avLst>
              <a:gd name="adj" fmla="val 22222"/>
            </a:avLst>
          </a:prstGeom>
          <a:solidFill>
            <a:srgbClr val="00D4A0">
              <a:alpha val="10000"/>
            </a:srgbClr>
          </a:solidFill>
          <a:ln w="12700">
            <a:solidFill>
              <a:srgbClr val="00D4A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subscriptions. No logins. No black box — full transparency, instant results.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in three simple steps.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560320" cy="32918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2560320" cy="457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6072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Your Risk Appetite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29718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Conservative, Moderate, Aggressive, or Speculative. Every insight, signal, and recommendation adapts to your stated comfort level.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44952" y="3063240"/>
            <a:ext cx="201168" cy="0"/>
          </a:xfrm>
          <a:prstGeom prst="line">
            <a:avLst/>
          </a:prstGeom>
          <a:noFill/>
          <a:ln w="25400">
            <a:solidFill>
              <a:srgbClr val="252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417320"/>
            <a:ext cx="2560320" cy="32918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17320"/>
            <a:ext cx="2560320" cy="45720"/>
          </a:xfrm>
          <a:prstGeom prst="rect">
            <a:avLst/>
          </a:prstGeom>
          <a:solidFill>
            <a:srgbClr val="4E9EFF"/>
          </a:solidFill>
          <a:ln w="12700">
            <a:solidFill>
              <a:srgbClr val="4E9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45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E9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10712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 Your Holdings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29718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positions — ticker, sector, asset type, and USD value. Use the demo portfolio to see a sample analysis instantly.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79592" y="3063240"/>
            <a:ext cx="201168" cy="0"/>
          </a:xfrm>
          <a:prstGeom prst="line">
            <a:avLst/>
          </a:prstGeom>
          <a:noFill/>
          <a:ln w="25400">
            <a:solidFill>
              <a:srgbClr val="252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417320"/>
            <a:ext cx="2560320" cy="32918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417320"/>
            <a:ext cx="256032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645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45352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Your Full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5352" y="29718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AI score, Buy/Hold/Sell signals, concentration alerts, sector charts, rebalancing plan, and personalized stock picks — all in under 2 seconds.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insight adapts to your risk appetite.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01952" cy="333756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1901952" cy="457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395728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preservation. Bonds, dividends, low-volatility assets.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536192" cy="0"/>
          </a:xfrm>
          <a:prstGeom prst="line">
            <a:avLst/>
          </a:prstGeom>
          <a:noFill/>
          <a:ln w="12700">
            <a:solidFill>
              <a:srgbClr val="252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38328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BUYS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36118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BND, AGG, VYM, SCHD, NOBL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987552" cy="219456"/>
          </a:xfrm>
          <a:prstGeom prst="roundRect">
            <a:avLst>
              <a:gd name="adj" fmla="val 50000"/>
            </a:avLst>
          </a:prstGeom>
          <a:solidFill>
            <a:srgbClr val="00D4A0">
              <a:alpha val="12000"/>
            </a:srgbClr>
          </a:solidFill>
          <a:ln w="12700">
            <a:solidFill>
              <a:srgbClr val="00D4A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8056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1417320"/>
            <a:ext cx="1901952" cy="333756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1417320"/>
            <a:ext cx="1901952" cy="45720"/>
          </a:xfrm>
          <a:prstGeom prst="rect">
            <a:avLst/>
          </a:prstGeom>
          <a:solidFill>
            <a:srgbClr val="4E9EFF"/>
          </a:solidFill>
          <a:ln w="12700">
            <a:solidFill>
              <a:srgbClr val="4E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78608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9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96896" y="2395728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growth and income. Medium volatility. Long-term focus.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70048" y="3291840"/>
            <a:ext cx="1536192" cy="0"/>
          </a:xfrm>
          <a:prstGeom prst="line">
            <a:avLst/>
          </a:prstGeom>
          <a:noFill/>
          <a:ln w="12700">
            <a:solidFill>
              <a:srgbClr val="252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96896" y="338328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BUYS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96896" y="36118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E9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VTI, SPY, QQQ, BRK-B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44368" y="4480560"/>
            <a:ext cx="987552" cy="219456"/>
          </a:xfrm>
          <a:prstGeom prst="roundRect">
            <a:avLst>
              <a:gd name="adj" fmla="val 50000"/>
            </a:avLst>
          </a:prstGeom>
          <a:solidFill>
            <a:srgbClr val="4E9EFF">
              <a:alpha val="12000"/>
            </a:srgbClr>
          </a:solidFill>
          <a:ln w="12700">
            <a:solidFill>
              <a:srgbClr val="4E9E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4368" y="448056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08576" y="1417320"/>
            <a:ext cx="1901952" cy="333756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1417320"/>
            <a:ext cx="1901952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00016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Aggressive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18304" y="2395728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Growth-focused. High-beta stocks and sector ETFs.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91456" y="3291840"/>
            <a:ext cx="1536192" cy="0"/>
          </a:xfrm>
          <a:prstGeom prst="line">
            <a:avLst/>
          </a:prstGeom>
          <a:noFill/>
          <a:ln w="12700">
            <a:solidFill>
              <a:srgbClr val="252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338328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BUYS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18304" y="36118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B4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NVDA, META, SMCI, ARKK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65776" y="4480560"/>
            <a:ext cx="987552" cy="219456"/>
          </a:xfrm>
          <a:prstGeom prst="roundRect">
            <a:avLst>
              <a:gd name="adj" fmla="val 50000"/>
            </a:avLst>
          </a:prstGeom>
          <a:solidFill>
            <a:srgbClr val="F0B429">
              <a:alpha val="12000"/>
            </a:srgbClr>
          </a:solidFill>
          <a:ln w="12700">
            <a:solidFill>
              <a:srgbClr val="F0B429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5776" y="448056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29984" y="1417320"/>
            <a:ext cx="1901952" cy="333756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29984" y="1417320"/>
            <a:ext cx="1901952" cy="45720"/>
          </a:xfrm>
          <a:prstGeom prst="rect">
            <a:avLst/>
          </a:prstGeom>
          <a:solidFill>
            <a:srgbClr val="FF5B5B"/>
          </a:solidFill>
          <a:ln w="12700">
            <a:solidFill>
              <a:srgbClr val="FF5B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1424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21424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Speculative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39712" y="2395728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Crypto, small caps, leveraged plays. Maximum risk/reward.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12864" y="3291840"/>
            <a:ext cx="1536192" cy="0"/>
          </a:xfrm>
          <a:prstGeom prst="line">
            <a:avLst/>
          </a:prstGeom>
          <a:noFill/>
          <a:ln w="12700">
            <a:solidFill>
              <a:srgbClr val="252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9712" y="338328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BUYS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39712" y="36118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5B5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BTC, ETH, TQQQ, SOXL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87184" y="4480560"/>
            <a:ext cx="987552" cy="219456"/>
          </a:xfrm>
          <a:prstGeom prst="roundRect">
            <a:avLst>
              <a:gd name="adj" fmla="val 50000"/>
            </a:avLst>
          </a:prstGeom>
          <a:solidFill>
            <a:srgbClr val="FF5B5B">
              <a:alpha val="12000"/>
            </a:srgbClr>
          </a:solidFill>
          <a:ln w="12700">
            <a:solidFill>
              <a:srgbClr val="FF5B5B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7184" y="448056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Max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Eight signals. One personalized dashboard.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01952" cy="16916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45720" cy="16916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Portfolio Score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0–100 grade from diversification, risk balance, sector coverage &amp; concentration.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87168" y="1280160"/>
            <a:ext cx="1901952" cy="16916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280160"/>
            <a:ext cx="45720" cy="1691640"/>
          </a:xfrm>
          <a:prstGeom prst="rect">
            <a:avLst/>
          </a:prstGeom>
          <a:solidFill>
            <a:srgbClr val="B47EFF"/>
          </a:solidFill>
          <a:ln w="12700">
            <a:solidFill>
              <a:srgbClr val="B47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24328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Appetite Input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24328" y="2057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Conservative → Speculative — every insight adapts to your comfort level.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1280160"/>
            <a:ext cx="1901952" cy="16916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280160"/>
            <a:ext cx="45720" cy="1691640"/>
          </a:xfrm>
          <a:prstGeom prst="rect">
            <a:avLst/>
          </a:prstGeom>
          <a:solidFill>
            <a:srgbClr val="4E9EFF"/>
          </a:solidFill>
          <a:ln w="12700">
            <a:solidFill>
              <a:srgbClr val="4E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45736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 / Hold / Sell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45736" y="2057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Position-level signals calibrated to your risk appetite, not generic allocation rules.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1280160"/>
            <a:ext cx="1901952" cy="16916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9984" y="1280160"/>
            <a:ext cx="45720" cy="16916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67144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Recommendations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67144" y="2057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buy suggestions matched to your exact risk profile — with yield and risk rating.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1901952" cy="16916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154680"/>
            <a:ext cx="45720" cy="16916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64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 Alerts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3931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flags — severity adjusts based on your risk appetite and portfolio structure.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87168" y="3154680"/>
            <a:ext cx="1901952" cy="16916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87168" y="3154680"/>
            <a:ext cx="45720" cy="1691640"/>
          </a:xfrm>
          <a:prstGeom prst="rect">
            <a:avLst/>
          </a:prstGeom>
          <a:solidFill>
            <a:srgbClr val="FF5B5B"/>
          </a:solidFill>
          <a:ln w="12700">
            <a:solidFill>
              <a:srgbClr val="FF5B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3264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624328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Sector Allocation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24328" y="3931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GICS sector breakdown with bar chart and coverage gap analysis.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08576" y="3154680"/>
            <a:ext cx="1901952" cy="16916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08576" y="3154680"/>
            <a:ext cx="45720" cy="1691640"/>
          </a:xfrm>
          <a:prstGeom prst="rect">
            <a:avLst/>
          </a:prstGeom>
          <a:solidFill>
            <a:srgbClr val="4E9EFF"/>
          </a:solidFill>
          <a:ln w="12700">
            <a:solidFill>
              <a:srgbClr val="4E9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45736" y="3264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45736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Rebalancing Plan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45736" y="3931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/ Buy / Hold / Sell guidance per position, weighted against your risk appetite.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29984" y="3154680"/>
            <a:ext cx="1901952" cy="169164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29984" y="3154680"/>
            <a:ext cx="45720" cy="16916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67144" y="3264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67144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Breakdown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67144" y="3931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how each sub-score was calculated — full transparency, no black box.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SCORE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 scoring. No black box.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3657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343400" y="1234440"/>
            <a:ext cx="4389120" cy="73152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43400" y="1234440"/>
            <a:ext cx="45720" cy="7315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98848" y="12893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Diversification (HHI)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21040" y="128930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98848" y="1563624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concentration using Herfindahl-Hirschman Index. Spread = better score.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43400" y="2084832"/>
            <a:ext cx="4389120" cy="73152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2084832"/>
            <a:ext cx="45720" cy="731520"/>
          </a:xfrm>
          <a:prstGeom prst="rect">
            <a:avLst/>
          </a:prstGeom>
          <a:solidFill>
            <a:srgbClr val="4E9EFF"/>
          </a:solidFill>
          <a:ln w="12700">
            <a:solidFill>
              <a:srgbClr val="4E9E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98848" y="21396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Balance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21040" y="21396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E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98848" y="2414016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your actual asset mix matches your stated risk appetite.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343400" y="2935224"/>
            <a:ext cx="4389120" cy="73152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43400" y="2935224"/>
            <a:ext cx="45720" cy="7315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98848" y="2990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Sector Coverage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21040" y="2990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498848" y="3264408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GICS sectors represented. Target: 5+ of 10 sectors.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43400" y="3785616"/>
            <a:ext cx="4389120" cy="731520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43400" y="3785616"/>
            <a:ext cx="45720" cy="731520"/>
          </a:xfrm>
          <a:prstGeom prst="rect">
            <a:avLst/>
          </a:prstGeom>
          <a:solidFill>
            <a:srgbClr val="B47EFF"/>
          </a:solidFill>
          <a:ln w="12700">
            <a:solidFill>
              <a:srgbClr val="B47E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98848" y="3840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 Risk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321040" y="38404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98848" y="4114800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over-reliance on a single position (25%+ threshold).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343400" y="4663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above 75 indicate a well-structured portfolio. Below 50 triggers prioritized recommendations.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SIGNALS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Position-level intelligence, personalized to your risk appetite.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01952" cy="356616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44752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0D4A0">
              <a:alpha val="14000"/>
            </a:srgbClr>
          </a:solidFill>
          <a:ln w="12700">
            <a:solidFill>
              <a:srgbClr val="00D4A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4475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" y="19019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 Signal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536192" cy="0"/>
          </a:xfrm>
          <a:prstGeom prst="line">
            <a:avLst/>
          </a:prstGeom>
          <a:noFill/>
          <a:ln w="12700">
            <a:solidFill>
              <a:srgbClr val="252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3591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" y="2606040"/>
            <a:ext cx="1591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ETF position needing diversification boost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too conservative for your target appetite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Underrepresented sector needs exposure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280160"/>
            <a:ext cx="1901952" cy="356616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98648" y="1444752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4E9EFF">
              <a:alpha val="14000"/>
            </a:srgbClr>
          </a:solidFill>
          <a:ln w="12700">
            <a:solidFill>
              <a:srgbClr val="4E9E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8648" y="144475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9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15184" y="19019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 Signal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70048" y="2286000"/>
            <a:ext cx="1536192" cy="0"/>
          </a:xfrm>
          <a:prstGeom prst="line">
            <a:avLst/>
          </a:prstGeom>
          <a:noFill/>
          <a:ln w="12700">
            <a:solidFill>
              <a:srgbClr val="252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5184" y="23591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51760" y="2606040"/>
            <a:ext cx="1591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within acceptable range for your profile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exposure not yet at 35% ceiling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complements existing allocations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280160"/>
            <a:ext cx="1901952" cy="356616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0056" y="1444752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F0B429">
              <a:alpha val="14000"/>
            </a:srgbClr>
          </a:solidFill>
          <a:ln w="12700">
            <a:solidFill>
              <a:srgbClr val="F0B429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0056" y="144475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19019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Signal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91456" y="2286000"/>
            <a:ext cx="1536192" cy="0"/>
          </a:xfrm>
          <a:prstGeom prst="line">
            <a:avLst/>
          </a:prstGeom>
          <a:noFill/>
          <a:ln w="12700">
            <a:solidFill>
              <a:srgbClr val="252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3591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73168" y="2606040"/>
            <a:ext cx="1591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position &amp; sector are elevated simultaneously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riskier than your stated appetite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over 5% in a Moderate profile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9984" y="1280160"/>
            <a:ext cx="1901952" cy="3566160"/>
          </a:xfrm>
          <a:prstGeom prst="rect">
            <a:avLst/>
          </a:prstGeom>
          <a:solidFill>
            <a:srgbClr val="161A3A"/>
          </a:solidFill>
          <a:ln w="12700">
            <a:solidFill>
              <a:srgbClr val="252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41464" y="1444752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FF5B5B">
              <a:alpha val="14000"/>
            </a:srgbClr>
          </a:solidFill>
          <a:ln w="12700">
            <a:solidFill>
              <a:srgbClr val="FF5B5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1464" y="144475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19019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Sell Signal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12864" y="2286000"/>
            <a:ext cx="1536192" cy="0"/>
          </a:xfrm>
          <a:prstGeom prst="line">
            <a:avLst/>
          </a:prstGeom>
          <a:noFill/>
          <a:ln w="12700">
            <a:solidFill>
              <a:srgbClr val="252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3591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94576" y="2606040"/>
            <a:ext cx="1591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position exceeds 25% critical threshold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in a Conservative portfolio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blocking return potential in Speculative profile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complete portfolio report — in under 2 seconds.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2606040" cy="1115568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B+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261872"/>
            <a:ext cx="2606040" cy="1115568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572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9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stated goal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261872"/>
            <a:ext cx="2606040" cy="1115568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Risk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572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Aggressive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7220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asset mix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2606040" cy="1115568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8712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HHI: 0.18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560320"/>
            <a:ext cx="2606040" cy="1115568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Position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8712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32.4%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37560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— ⚠ Overweight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2560320"/>
            <a:ext cx="2606040" cy="1115568"/>
          </a:xfrm>
          <a:prstGeom prst="rect">
            <a:avLst/>
          </a:prstGeom>
          <a:solidFill>
            <a:srgbClr val="1C2145"/>
          </a:solidFill>
          <a:ln w="12700">
            <a:solidFill>
              <a:srgbClr val="252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Covered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28712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9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72200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 GICS</a:t>
            </a:r>
            <a:endParaRPr lang="en-US" sz="9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257800" y="1261872"/>
          <a:ext cx="34747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5486400" cy="5486400"/>
          </a:xfrm>
          <a:prstGeom prst="ellipse">
            <a:avLst/>
          </a:prstGeom>
          <a:solidFill>
            <a:srgbClr val="00D4A0">
              <a:alpha val="6000"/>
            </a:srgbClr>
          </a:solidFill>
          <a:ln w="12700">
            <a:solidFill>
              <a:srgbClr val="00D4A0">
                <a:alpha val="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score your portfolio?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19659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PortfolioPilot AI is free, instant, and requires no account.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your holdings and your risk appetite.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512064"/>
          </a:xfrm>
          <a:prstGeom prst="roundRect">
            <a:avLst>
              <a:gd name="adj" fmla="val 17857"/>
            </a:avLst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28346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9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Demo Portfolio 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subscription required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transparency — no black box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Results in under 2 seconds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4663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PortfolioPilot AI is for educational purposes only and does not constitute financial advice.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24528" y="2560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256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9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08576" y="2560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PortfolioPilot 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PortfolioPilot AI</dc:title>
  <dc:subject>PptxGenJS Presentation</dc:subject>
  <dc:creator>PortfolioPilot</dc:creator>
  <cp:lastModifiedBy>PortfolioPilot</cp:lastModifiedBy>
  <cp:revision>1</cp:revision>
  <dcterms:created xsi:type="dcterms:W3CDTF">2026-04-29T21:48:53Z</dcterms:created>
  <dcterms:modified xsi:type="dcterms:W3CDTF">2026-04-29T21:48:53Z</dcterms:modified>
</cp:coreProperties>
</file>